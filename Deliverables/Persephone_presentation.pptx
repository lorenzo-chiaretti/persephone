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1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A4E51D-46A8-C1D2-BBE5-A6A25342AC1F}" name="Gabriele Busacca" initials="GB" userId="S::10902295@polimi.it::0996bcfe-22a1-447a-9def-ffbf83e67f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7480"/>
    <a:srgbClr val="E8A33D"/>
    <a:srgbClr val="C0392B"/>
    <a:srgbClr val="1C7293"/>
    <a:srgbClr val="F4F1EB"/>
    <a:srgbClr val="24262B"/>
    <a:srgbClr val="33363C"/>
    <a:srgbClr val="0A3B55"/>
    <a:srgbClr val="1C72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5"/>
    <p:restoredTop sz="94615"/>
  </p:normalViewPr>
  <p:slideViewPr>
    <p:cSldViewPr snapToGrid="0" snapToObjects="1">
      <p:cViewPr>
        <p:scale>
          <a:sx n="78" d="100"/>
          <a:sy n="78" d="100"/>
        </p:scale>
        <p:origin x="645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8/10/relationships/authors" Target="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B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67-8045-8AAC-8E308ED3048E}"/>
              </c:ext>
            </c:extLst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67-8045-8AAC-8E308ED3048E}"/>
              </c:ext>
            </c:extLst>
          </c:dPt>
          <c:dPt>
            <c:idx val="2"/>
            <c:bubble3D val="0"/>
            <c:spPr>
              <a:solidFill>
                <a:srgbClr val="6FB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67-8045-8AAC-8E308ED3048E}"/>
              </c:ext>
            </c:extLst>
          </c:dPt>
          <c:dPt>
            <c:idx val="3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67-8045-8AAC-8E308ED3048E}"/>
              </c:ext>
            </c:extLst>
          </c:dPt>
          <c:dPt>
            <c:idx val="4"/>
            <c:bubble3D val="0"/>
            <c:spPr>
              <a:solidFill>
                <a:srgbClr val="9FB8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967-8045-8AAC-8E308ED3048E}"/>
              </c:ext>
            </c:extLst>
          </c:dPt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36-50</c:v>
                </c:pt>
                <c:pt idx="3">
                  <c:v>&lt;18</c:v>
                </c:pt>
                <c:pt idx="4">
                  <c:v>51-65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967-8045-8AAC-8E308ED30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326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(1-5)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Tech familiarity</c:v>
                </c:pt>
                <c:pt idx="1">
                  <c:v>Interest in local history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4.0999999999999996</c:v>
                </c:pt>
                <c:pt idx="1">
                  <c:v>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16-4941-A58B-586CBBF7C7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9525" cap="flat">
              <a:solidFill>
                <a:srgbClr val="E3DF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3B5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C6B-3A4A-8BEC-E4D21AC84CAA}"/>
              </c:ext>
            </c:extLst>
          </c:dPt>
          <c:dPt>
            <c:idx val="1"/>
            <c:bubble3D val="0"/>
            <c:spPr>
              <a:solidFill>
                <a:srgbClr val="6FB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C6B-3A4A-8BEC-E4D21AC84CAA}"/>
              </c:ext>
            </c:extLst>
          </c:dPt>
          <c:cat>
            <c:strRef>
              <c:f>Sheet1!$A$2:$A$3</c:f>
              <c:strCache>
                <c:ptCount val="2"/>
                <c:pt idx="0">
                  <c:v>iOS (iPhone)</c:v>
                </c:pt>
                <c:pt idx="1">
                  <c:v>Android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C6B-3A4A-8BEC-E4D21AC84C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326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AR experience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4DA-2347-BCF3-B6A71C4053AB}"/>
              </c:ext>
            </c:extLst>
          </c:dPt>
          <c:dPt>
            <c:idx val="1"/>
            <c:bubble3D val="0"/>
            <c:spPr>
              <a:solidFill>
                <a:srgbClr val="D8D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DA-2347-BCF3-B6A71C4053AB}"/>
              </c:ext>
            </c:extLst>
          </c:dPt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4DA-2347-BCF3-B6A71C405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1326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Education</c:v>
                </c:pt>
              </c:strCache>
            </c:strRef>
          </c:tx>
          <c:spPr>
            <a:solidFill>
              <a:srgbClr val="0B3B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Degree</c:v>
                </c:pt>
                <c:pt idx="1">
                  <c:v>Diploma</c:v>
                </c:pt>
                <c:pt idx="2">
                  <c:v>Middle school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2-E74B-9767-17DA8178314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 usage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Often/weekly</c:v>
                </c:pt>
                <c:pt idx="1">
                  <c:v>Daily</c:v>
                </c:pt>
                <c:pt idx="2">
                  <c:v>Rarely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DC-4C45-BE4C-2885A369C2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Voice assistants</c:v>
                </c:pt>
              </c:strCache>
            </c:strRef>
          </c:tx>
          <c:spPr>
            <a:solidFill>
              <a:srgbClr val="6FB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Rarely</c:v>
                </c:pt>
                <c:pt idx="1">
                  <c:v>Never</c:v>
                </c:pt>
                <c:pt idx="2">
                  <c:v>Often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71-184D-98EC-FB684D0324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rgbClr val="0B3B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60.6</c:v>
                </c:pt>
                <c:pt idx="1">
                  <c:v>42</c:v>
                </c:pt>
                <c:pt idx="2">
                  <c:v>70.900000000000006</c:v>
                </c:pt>
                <c:pt idx="3">
                  <c:v>51.3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9B-E94A-A062-10425941D9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DF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success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EE-4F4F-9A2D-F9EC4DEE51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support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9EE-4F4F-9A2D-F9EC4DEE510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9EE-4F4F-9A2D-F9EC4DEE5101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EE-4F4F-9A2D-F9EC4DEE51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9EE-4F4F-9A2D-F9EC4DEE510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326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6FB3B8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10,7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2DE-6148-957D-A5E3AA7E39F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AB3C4D78-1D69-794E-9C24-EC6BC699192B}" type="VALUE">
                      <a:rPr lang="en-US" smtClean="0"/>
                      <a:pPr/>
                      <a:t>[VALORE]</a:t>
                    </a:fld>
                    <a:r>
                      <a:rPr lang="en-US"/>
                      <a:t>,1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2DE-6148-957D-A5E3AA7E39F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E731812-B9C1-5342-B81A-7CD10A46CDCC}" type="VALUE">
                      <a:rPr lang="en-US" smtClean="0"/>
                      <a:pPr/>
                      <a:t>[VALORE]</a:t>
                    </a:fld>
                    <a:r>
                      <a:rPr lang="en-US"/>
                      <a:t>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2DE-6148-957D-A5E3AA7E39F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9,7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92DE-6148-957D-A5E3AA7E39F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10.7</c:v>
                </c:pt>
                <c:pt idx="1">
                  <c:v>8.1</c:v>
                </c:pt>
                <c:pt idx="2">
                  <c:v>5.2</c:v>
                </c:pt>
                <c:pt idx="3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DE-6148-957D-A5E3AA7E39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6">
                <a:lumMod val="40000"/>
                <a:lumOff val="60000"/>
              </a:scheme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3C612D4-46CA-D14C-BB58-B4180B0F174A}" type="VALUE">
                      <a:rPr lang="en-US" smtClean="0"/>
                      <a:pPr/>
                      <a:t>[VALORE]</a:t>
                    </a:fld>
                    <a:r>
                      <a:rPr lang="en-US"/>
                      <a:t>,22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8398-764C-8990-3CE05F9EFE7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0,44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398-764C-8990-3CE05F9EFE7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A10285A-4193-3948-8EA1-9D6C02CEA680}" type="VALUE">
                      <a:rPr lang="en-US" smtClean="0"/>
                      <a:pPr/>
                      <a:t>[VALORE]</a:t>
                    </a:fld>
                    <a:r>
                      <a:rPr lang="en-US"/>
                      <a:t>,33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8398-764C-8990-3CE05F9EFE7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0,56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398-764C-8990-3CE05F9EFE7E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1.22</c:v>
                </c:pt>
                <c:pt idx="1">
                  <c:v>0.44</c:v>
                </c:pt>
                <c:pt idx="2">
                  <c:v>0.33</c:v>
                </c:pt>
                <c:pt idx="3">
                  <c:v>0.56000000000000005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98-764C-8990-3CE05F9EFE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SEQ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Task 1</c:v>
                </c:pt>
                <c:pt idx="1">
                  <c:v>Task 2</c:v>
                </c:pt>
                <c:pt idx="2">
                  <c:v>Task 3</c:v>
                </c:pt>
                <c:pt idx="3">
                  <c:v>Task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5.44</c:v>
                </c:pt>
                <c:pt idx="1">
                  <c:v>5.56</c:v>
                </c:pt>
                <c:pt idx="2">
                  <c:v>5.56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E1-1E47-B35C-C6714CA16B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E3DF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P1</c:v>
                </c:pt>
                <c:pt idx="1">
                  <c:v>P2</c:v>
                </c:pt>
                <c:pt idx="2">
                  <c:v>P3</c:v>
                </c:pt>
                <c:pt idx="3">
                  <c:v>P4</c:v>
                </c:pt>
                <c:pt idx="4">
                  <c:v>P5</c:v>
                </c:pt>
                <c:pt idx="5">
                  <c:v>P6</c:v>
                </c:pt>
                <c:pt idx="6">
                  <c:v>P7</c:v>
                </c:pt>
                <c:pt idx="7">
                  <c:v>P8</c:v>
                </c:pt>
                <c:pt idx="8">
                  <c:v>P9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77.5</c:v>
                </c:pt>
                <c:pt idx="1">
                  <c:v>87.5</c:v>
                </c:pt>
                <c:pt idx="2">
                  <c:v>80</c:v>
                </c:pt>
                <c:pt idx="3">
                  <c:v>47.5</c:v>
                </c:pt>
                <c:pt idx="4">
                  <c:v>80</c:v>
                </c:pt>
                <c:pt idx="5">
                  <c:v>75</c:v>
                </c:pt>
                <c:pt idx="6">
                  <c:v>97.5</c:v>
                </c:pt>
                <c:pt idx="7">
                  <c:v>77.5</c:v>
                </c:pt>
                <c:pt idx="8">
                  <c:v>32.5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D6-7747-B5CB-31895DE173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DF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participants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3262E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Poor &lt;50</c:v>
                </c:pt>
                <c:pt idx="1">
                  <c:v>Fair 50-68</c:v>
                </c:pt>
                <c:pt idx="2">
                  <c:v>Good 68-80</c:v>
                </c:pt>
                <c:pt idx="3">
                  <c:v>Great 80-90</c:v>
                </c:pt>
                <c:pt idx="4">
                  <c:v>Excellent 90-100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8F-F443-854A-6EF711BA6A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3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"/>
          <c:min val="0"/>
        </c:scaling>
        <c:delete val="0"/>
        <c:axPos val="l"/>
        <c:majorGridlines>
          <c:spPr>
            <a:ln w="9525" cap="flat">
              <a:solidFill>
                <a:srgbClr val="E3DF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4198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F146-0685-BF9A-1822-8A94EEE3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B8BBEB-B12C-821B-8712-8366CDD11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C62A0-3EEF-4223-EA03-99669841C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660F2-DEAC-2B83-D198-D50B01762D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769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chart" Target="../charts/chart2.xml"/><Relationship Id="rId7" Type="http://schemas.openxmlformats.org/officeDocument/2006/relationships/chart" Target="../charts/chart6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6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589520" y="-2011680"/>
            <a:ext cx="6858000" cy="6858000"/>
          </a:xfrm>
          <a:prstGeom prst="ellipse">
            <a:avLst/>
          </a:prstGeom>
          <a:solidFill>
            <a:srgbClr val="4A6FA5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4A6FA5">
              <a:alpha val="12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invisible canals of Milan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3840480" cy="502920"/>
          </a:xfrm>
          <a:prstGeom prst="roundRect">
            <a:avLst>
              <a:gd name="adj" fmla="val 50909"/>
            </a:avLst>
          </a:prstGeom>
          <a:solidFill>
            <a:srgbClr val="4A6FA5">
              <a:alpha val="8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85800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• Heuristic Evaluation • User Testing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13465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213465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Recap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2665010"/>
            <a:ext cx="8503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40080" y="279302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79302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463040" y="3323378"/>
            <a:ext cx="8503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40080" y="345139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45139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Evaluation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463040" y="3981746"/>
            <a:ext cx="8503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410976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10976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Improvements: Implemented &amp; Planned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463040" y="4640114"/>
            <a:ext cx="8503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" y="476813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76813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463040" y="5298482"/>
            <a:ext cx="8503920" cy="0"/>
          </a:xfrm>
          <a:prstGeom prst="line">
            <a:avLst/>
          </a:prstGeom>
          <a:noFill/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Recap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6949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Milan's covered Navigli are a unique, still-embedded but largely invisible piece of urban heritage. Persephonē responds to a clear civic desire to rediscover them — bridging what exists beneath the city with what people can see, understand and experience today.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D8D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Persephone (the mythological figure who moves between the surface and the underworld) frames the project not as a reconstruction of the past, but as a process of revealing what is already there, just unseen.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0" y="2286000"/>
            <a:ext cx="3017520" cy="3017520"/>
          </a:xfrm>
          <a:prstGeom prst="ellipse">
            <a:avLst/>
          </a:prstGeom>
          <a:solidFill>
            <a:srgbClr val="4A6FA5">
              <a:alpha val="90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8229600" y="28346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366760" y="37947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 reopening the</a:t>
            </a:r>
            <a:endParaRPr lang="en-US" sz="11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Navigli — 2011 public referendum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&amp; Core Tasks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Narciso, a student intrigued by Milan's buried Navigli, moves through a multimodal journey: remote discovery at home → AR re-emergence on-site → conversation with a virtual guide → gamified on-site exploration.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D7E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Discovery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map, historical/current photo slider, and directions to a Navigli node.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486400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F0F4FA"/>
          </a:solidFill>
          <a:ln w="9525">
            <a:solidFill>
              <a:srgbClr val="D7E2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+ Map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520440" y="2423160"/>
            <a:ext cx="502920" cy="502920"/>
          </a:xfrm>
          <a:prstGeom prst="ellipse">
            <a:avLst/>
          </a:prstGeom>
          <a:solidFill>
            <a:srgbClr val="D7E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52044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214884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355080" y="2423160"/>
            <a:ext cx="502920" cy="502920"/>
          </a:xfrm>
          <a:prstGeom prst="ellipse">
            <a:avLst/>
          </a:prstGeom>
          <a:solidFill>
            <a:srgbClr val="D7E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35508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961120" y="214884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5"/>
          <p:cNvSpPr/>
          <p:nvPr/>
        </p:nvSpPr>
        <p:spPr>
          <a:xfrm>
            <a:off x="9189720" y="2423160"/>
            <a:ext cx="502920" cy="502920"/>
          </a:xfrm>
          <a:prstGeom prst="ellipse">
            <a:avLst/>
          </a:prstGeom>
          <a:solidFill>
            <a:srgbClr val="D7E2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18972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144000" y="5486400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F0F4FA"/>
          </a:solidFill>
          <a:ln w="9525">
            <a:solidFill>
              <a:srgbClr val="D7E2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168AB48-D201-B1BB-FFA7-8E7E680FA4A3}"/>
              </a:ext>
            </a:extLst>
          </p:cNvPr>
          <p:cNvSpPr/>
          <p:nvPr/>
        </p:nvSpPr>
        <p:spPr>
          <a:xfrm>
            <a:off x="3474720" y="5489822"/>
            <a:ext cx="2331720" cy="320040"/>
          </a:xfrm>
          <a:prstGeom prst="roundRect">
            <a:avLst>
              <a:gd name="adj" fmla="val 51429"/>
            </a:avLst>
          </a:prstGeom>
          <a:solidFill>
            <a:srgbClr val="F0F4FA"/>
          </a:solidFill>
          <a:ln w="9525">
            <a:solidFill>
              <a:srgbClr val="D7E2F0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892EBBB5-9BED-6C76-0C27-02A22E7DFB86}"/>
              </a:ext>
            </a:extLst>
          </p:cNvPr>
          <p:cNvGrpSpPr/>
          <p:nvPr/>
        </p:nvGrpSpPr>
        <p:grpSpPr>
          <a:xfrm>
            <a:off x="3474720" y="3063240"/>
            <a:ext cx="2331720" cy="2743200"/>
            <a:chOff x="9144000" y="3063240"/>
            <a:chExt cx="2331720" cy="2743200"/>
          </a:xfrm>
        </p:grpSpPr>
        <p:sp>
          <p:nvSpPr>
            <p:cNvPr id="29" name="Text 27"/>
            <p:cNvSpPr/>
            <p:nvPr/>
          </p:nvSpPr>
          <p:spPr>
            <a:xfrm>
              <a:off x="9144000" y="3063240"/>
              <a:ext cx="23317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700"/>
                </a:lnSpc>
                <a:buNone/>
              </a:pPr>
              <a:r>
                <a:rPr lang="en-US" b="1" dirty="0">
                  <a:solidFill>
                    <a:srgbClr val="3336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Photo Game</a:t>
              </a:r>
              <a:endParaRPr lang="en-US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9144000" y="3794760"/>
              <a:ext cx="233172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“hot-and-cold” acoustic hunt for a historical photo point, ending in a gallery unlock.</a:t>
              </a:r>
              <a:endParaRPr lang="en-US" sz="1400" dirty="0"/>
            </a:p>
          </p:txBody>
        </p:sp>
        <p:sp>
          <p:nvSpPr>
            <p:cNvPr id="32" name="Text 30"/>
            <p:cNvSpPr/>
            <p:nvPr/>
          </p:nvSpPr>
          <p:spPr>
            <a:xfrm>
              <a:off x="9144000" y="548640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A6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+ Audio</a:t>
              </a:r>
              <a:endParaRPr lang="en-US" sz="1100" dirty="0"/>
            </a:p>
          </p:txBody>
        </p:sp>
      </p:grpSp>
      <p:sp>
        <p:nvSpPr>
          <p:cNvPr id="33" name="Text 3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B0017963-F20D-C540-241A-908876914512}"/>
              </a:ext>
            </a:extLst>
          </p:cNvPr>
          <p:cNvGrpSpPr/>
          <p:nvPr/>
        </p:nvGrpSpPr>
        <p:grpSpPr>
          <a:xfrm>
            <a:off x="6309360" y="3063240"/>
            <a:ext cx="2331720" cy="2743200"/>
            <a:chOff x="3474720" y="3063240"/>
            <a:chExt cx="2331720" cy="2743200"/>
          </a:xfrm>
        </p:grpSpPr>
        <p:sp>
          <p:nvSpPr>
            <p:cNvPr id="15" name="Text 13"/>
            <p:cNvSpPr/>
            <p:nvPr/>
          </p:nvSpPr>
          <p:spPr>
            <a:xfrm>
              <a:off x="3474720" y="3063240"/>
              <a:ext cx="23317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700"/>
                </a:lnSpc>
                <a:buNone/>
              </a:pPr>
              <a:r>
                <a:rPr lang="en-US" b="1" dirty="0">
                  <a:solidFill>
                    <a:srgbClr val="3336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AR Re-emergence</a:t>
              </a:r>
              <a:endParaRPr 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3474720" y="3794760"/>
              <a:ext cx="233172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Camera anchors the pavement; a voice command (“Bring the water back!”) triggers the 3D canal.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3474720" y="5486400"/>
              <a:ext cx="2331720" cy="320040"/>
            </a:xfrm>
            <a:prstGeom prst="roundRect">
              <a:avLst>
                <a:gd name="adj" fmla="val 51429"/>
              </a:avLst>
            </a:prstGeom>
            <a:solidFill>
              <a:srgbClr val="F0F4FA"/>
            </a:solidFill>
            <a:ln w="9525">
              <a:solidFill>
                <a:srgbClr val="D7E2F0"/>
              </a:solidFill>
              <a:prstDash val="solid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 16"/>
            <p:cNvSpPr/>
            <p:nvPr/>
          </p:nvSpPr>
          <p:spPr>
            <a:xfrm>
              <a:off x="3474720" y="548640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A6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Voice + Vision (AR)</a:t>
              </a:r>
              <a:endParaRPr lang="en-US" sz="1100" dirty="0"/>
            </a:p>
          </p:txBody>
        </p:sp>
      </p:grp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395F782E-7623-4E43-7479-823E43CB60BC}"/>
              </a:ext>
            </a:extLst>
          </p:cNvPr>
          <p:cNvGrpSpPr/>
          <p:nvPr/>
        </p:nvGrpSpPr>
        <p:grpSpPr>
          <a:xfrm>
            <a:off x="9144000" y="3063240"/>
            <a:ext cx="2331720" cy="2743200"/>
            <a:chOff x="6309360" y="3063240"/>
            <a:chExt cx="2331720" cy="2743200"/>
          </a:xfrm>
        </p:grpSpPr>
        <p:sp>
          <p:nvSpPr>
            <p:cNvPr id="22" name="Text 20"/>
            <p:cNvSpPr/>
            <p:nvPr/>
          </p:nvSpPr>
          <p:spPr>
            <a:xfrm>
              <a:off x="6309360" y="3063240"/>
              <a:ext cx="2331720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700"/>
                </a:lnSpc>
                <a:buNone/>
              </a:pPr>
              <a:r>
                <a:rPr lang="en-US" b="1" dirty="0">
                  <a:solidFill>
                    <a:srgbClr val="33363D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Conversational Sciura</a:t>
              </a:r>
              <a:endParaRPr lang="en-US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309360" y="3794760"/>
              <a:ext cx="2331720" cy="1737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4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Hands-free spoken dialogue with a virtual Milanese avatar about the canal's history.</a:t>
              </a:r>
              <a:endParaRPr lang="en-US" sz="14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309360" y="5486400"/>
              <a:ext cx="2331720" cy="320040"/>
            </a:xfrm>
            <a:prstGeom prst="roundRect">
              <a:avLst>
                <a:gd name="adj" fmla="val 51429"/>
              </a:avLst>
            </a:prstGeom>
            <a:solidFill>
              <a:srgbClr val="F0F4FA"/>
            </a:solidFill>
            <a:ln w="9525">
              <a:solidFill>
                <a:srgbClr val="D7E2F0"/>
              </a:solidFill>
              <a:prstDash val="solid"/>
            </a:ln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6309360" y="5486400"/>
              <a:ext cx="233172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4A6FA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Voice + Vision</a:t>
              </a:r>
              <a:endParaRPr lang="en-US" sz="1100" dirty="0"/>
            </a:p>
          </p:txBody>
        </p:sp>
      </p:grp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56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9" grpId="0"/>
      <p:bldP spid="20" grpId="0"/>
      <p:bldP spid="21" grpId="0"/>
      <p:bldP spid="26" grpId="0"/>
      <p:bldP spid="27" grpId="0"/>
      <p:bldP spid="28" grpId="0"/>
      <p:bldP spid="31" grpId="0"/>
      <p:bldP spid="38" grpId="0"/>
      <p:bldP spid="34" grpId="0"/>
      <p:bldP spid="33" grpId="0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336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7E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technology choices, and the multimodal robustness strategies behind Persephonē.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mobile-first WebAR + Conversational-AI experience — zero app install required.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9728" cy="1280160"/>
          </a:xfrm>
          <a:prstGeom prst="round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Zero-App Access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 + 8th Wall + A-Frame. The experience is launched directly in the browser — no install friction.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0760" y="20574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6355080" y="2331720"/>
            <a:ext cx="109728" cy="1280160"/>
          </a:xfrm>
          <a:prstGeom prst="round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629400" y="228600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WebAR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Wall SLAM and custom shaders anchor the 3D canal reconstruction realistically beneath street level.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109728" cy="1280160"/>
          </a:xfrm>
          <a:prstGeom prst="round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93776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dialogue with the Sciura di Milano avatar, powered by Deepgram STT, Groq Llama 3.1, and ElevenLabs TTS.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42519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355080" y="4526280"/>
            <a:ext cx="109728" cy="1280160"/>
          </a:xfrm>
          <a:prstGeom prst="roundRect">
            <a:avLst/>
          </a:prstGeom>
          <a:solidFill>
            <a:srgbClr val="4A6FA5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629400" y="448056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Gamified Localization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29400" y="4937760"/>
            <a:ext cx="4526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GPS-based “hot-and-cold” photo hunt using acoustic feedback to motivate physical exploration.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decoupled stack keeps heavy WebGL rendering and low-latency speech isolated from the main UI thread.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3880" y="5075658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 Frontend Host — global state, UI, audio playback, geofencing loop.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Wall AR Subsystem (iframe) — SLAM + A-Frame, sandboxed, talks via postMessage.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Server Middleware — compiles POI prompts, proxies credentials to external APIs.</a:t>
            </a:r>
            <a:endParaRPr lang="en-US" sz="115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Gateway — Deepgram (STT), Groq (LLM persona), ElevenLabs (TTS).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BFF43647-C4EB-8750-4623-0AB3A063F7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58" t="743" r="2111" b="3301"/>
          <a:stretch>
            <a:fillRect/>
          </a:stretch>
        </p:blipFill>
        <p:spPr>
          <a:xfrm>
            <a:off x="2352339" y="2066813"/>
            <a:ext cx="7487322" cy="2724374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Per-Task Design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task's interaction modalities were chosen to match its real-world environmental constraints.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685800" y="2267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Remote Discovery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access points, compare past/present, get directions.
</a:t>
            </a:r>
            <a:r>
              <a:rPr lang="en-US" sz="1200" b="1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remote, indoors, possibly moving, varying light.
</a:t>
            </a:r>
            <a:r>
              <a:rPr lang="en-US" sz="1200" b="1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 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(map, slider) + Vision (GPS context)</a:t>
            </a:r>
            <a:endParaRPr lang="en-US" sz="1200" dirty="0"/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AFA7D2A9-4FE7-A422-0797-4CD798A66FC7}"/>
              </a:ext>
            </a:extLst>
          </p:cNvPr>
          <p:cNvGrpSpPr/>
          <p:nvPr/>
        </p:nvGrpSpPr>
        <p:grpSpPr>
          <a:xfrm>
            <a:off x="457200" y="4341971"/>
            <a:ext cx="5486400" cy="2103120"/>
            <a:chOff x="6172200" y="2011680"/>
            <a:chExt cx="5486400" cy="2103120"/>
          </a:xfrm>
        </p:grpSpPr>
        <p:sp>
          <p:nvSpPr>
            <p:cNvPr id="8" name="Shape 6"/>
            <p:cNvSpPr/>
            <p:nvPr/>
          </p:nvSpPr>
          <p:spPr>
            <a:xfrm>
              <a:off x="6172200" y="2011680"/>
              <a:ext cx="5486400" cy="210312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>
              <a:solidFill>
                <a:srgbClr val="E3E7EC"/>
              </a:solidFill>
              <a:prstDash val="solid"/>
            </a:ln>
            <a:effectLst>
              <a:outerShdw blurRad="76200" dist="25400" dir="5400000" algn="bl" rotWithShape="0">
                <a:srgbClr val="9AA5B1">
                  <a:alpha val="25000"/>
                </a:srgbClr>
              </a:outerShdw>
            </a:effectLst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 7"/>
            <p:cNvSpPr/>
            <p:nvPr/>
          </p:nvSpPr>
          <p:spPr>
            <a:xfrm>
              <a:off x="6400800" y="2271417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A6FA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3. AR Re-emergence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6400800" y="2542032"/>
              <a:ext cx="502920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Trigger a voice-activated AR reconstruction of the canal.
</a:t>
              </a: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Constraints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Outdoors, daylight/glare, traffic noise, physical obstacles.
</a:t>
              </a: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Modalities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 (camera framing) + Voice (trigger)</a:t>
              </a:r>
              <a:endParaRPr lang="en-US" sz="1200" dirty="0"/>
            </a:p>
          </p:txBody>
        </p:sp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1BD0C512-306B-DBE1-1014-02461F467EDA}"/>
              </a:ext>
            </a:extLst>
          </p:cNvPr>
          <p:cNvGrpSpPr/>
          <p:nvPr/>
        </p:nvGrpSpPr>
        <p:grpSpPr>
          <a:xfrm>
            <a:off x="6172200" y="4343400"/>
            <a:ext cx="5486400" cy="2103120"/>
            <a:chOff x="457200" y="4343400"/>
            <a:chExt cx="5486400" cy="2103120"/>
          </a:xfrm>
        </p:grpSpPr>
        <p:sp>
          <p:nvSpPr>
            <p:cNvPr id="11" name="Shape 9"/>
            <p:cNvSpPr/>
            <p:nvPr/>
          </p:nvSpPr>
          <p:spPr>
            <a:xfrm>
              <a:off x="457200" y="4343400"/>
              <a:ext cx="5486400" cy="210312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>
              <a:solidFill>
                <a:srgbClr val="E3E7EC"/>
              </a:solidFill>
              <a:prstDash val="solid"/>
            </a:ln>
            <a:effectLst>
              <a:outerShdw blurRad="76200" dist="25400" dir="5400000" algn="bl" rotWithShape="0">
                <a:srgbClr val="9AA5B1">
                  <a:alpha val="25000"/>
                </a:srgbClr>
              </a:outerShdw>
            </a:effectLst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 10"/>
            <p:cNvSpPr/>
            <p:nvPr/>
          </p:nvSpPr>
          <p:spPr>
            <a:xfrm>
              <a:off x="685800" y="4599432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A6FA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4. Conversational Sciura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85800" y="4873752"/>
              <a:ext cx="502920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Learn the canal's history through spoken Q&amp;A.
</a:t>
              </a: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Constraints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Outdoors, ambient noise, glare or low light at night.
</a:t>
              </a: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Modalities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Vision (spatial context) + Voice (dialogue)</a:t>
              </a:r>
              <a:endParaRPr lang="en-US" sz="1200" dirty="0"/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3E685ECE-8EE6-38BE-1A25-B8FCF16C50DF}"/>
              </a:ext>
            </a:extLst>
          </p:cNvPr>
          <p:cNvGrpSpPr/>
          <p:nvPr/>
        </p:nvGrpSpPr>
        <p:grpSpPr>
          <a:xfrm>
            <a:off x="6172200" y="2011680"/>
            <a:ext cx="5486400" cy="2103120"/>
            <a:chOff x="6172200" y="4343400"/>
            <a:chExt cx="5486400" cy="2103120"/>
          </a:xfrm>
        </p:grpSpPr>
        <p:sp>
          <p:nvSpPr>
            <p:cNvPr id="14" name="Shape 12"/>
            <p:cNvSpPr/>
            <p:nvPr/>
          </p:nvSpPr>
          <p:spPr>
            <a:xfrm>
              <a:off x="6172200" y="4343400"/>
              <a:ext cx="5486400" cy="2103120"/>
            </a:xfrm>
            <a:prstGeom prst="roundRect">
              <a:avLst>
                <a:gd name="adj" fmla="val 3478"/>
              </a:avLst>
            </a:prstGeom>
            <a:solidFill>
              <a:srgbClr val="FFFFFF"/>
            </a:solidFill>
            <a:ln w="12700">
              <a:solidFill>
                <a:srgbClr val="E3E7EC"/>
              </a:solidFill>
              <a:prstDash val="solid"/>
            </a:ln>
            <a:effectLst>
              <a:outerShdw blurRad="76200" dist="25400" dir="5400000" algn="bl" rotWithShape="0">
                <a:srgbClr val="9AA5B1">
                  <a:alpha val="25000"/>
                </a:srgbClr>
              </a:outerShdw>
            </a:effectLst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 13"/>
            <p:cNvSpPr/>
            <p:nvPr/>
          </p:nvSpPr>
          <p:spPr>
            <a:xfrm>
              <a:off x="6400800" y="4604157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4A6FA5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2. Photo Game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400800" y="4873752"/>
              <a:ext cx="5029200" cy="1417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Locate a historical photo point via acoustic GPS guidance.
</a:t>
              </a: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Constraints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Outdoors, GPS accuracy, screen-off operation.
</a:t>
              </a:r>
              <a:r>
                <a:rPr lang="en-US" sz="1200" b="1" dirty="0">
                  <a:solidFill>
                    <a:srgbClr val="3336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Modalities  </a:t>
              </a:r>
              <a:r>
                <a:rPr lang="en-US" sz="120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GPS + Audio (Geiger-style feedback)</a:t>
              </a:r>
              <a:endParaRPr lang="en-US" sz="12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9" grpId="0"/>
      <p:bldP spid="20" grpId="0"/>
      <p:bldP spid="18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by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task ships with an explicit fallback loop for when a modality fails — no dead ends.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33363D">
              <a:alpha val="90000"/>
            </a:srgbClr>
          </a:solidFill>
          <a:ln w="12700">
            <a:solidFill>
              <a:srgbClr val="4448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Handoff Failure (Task 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4800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OS blocks the native Maps app hand-off, the system shows the destination address in-app with a “Copy Address” button, so navigation never dead-ends.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BF77EBD3-1BC8-C2E1-8589-A3216C018690}"/>
              </a:ext>
            </a:extLst>
          </p:cNvPr>
          <p:cNvSpPr/>
          <p:nvPr/>
        </p:nvSpPr>
        <p:spPr>
          <a:xfrm>
            <a:off x="6385562" y="205740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33363D">
              <a:alpha val="90000"/>
            </a:srgbClr>
          </a:solidFill>
          <a:ln w="12700">
            <a:solidFill>
              <a:srgbClr val="44484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15B925C8-4B1B-51FB-F293-F6386402C117}"/>
              </a:ext>
            </a:extLst>
          </p:cNvPr>
          <p:cNvSpPr/>
          <p:nvPr/>
        </p:nvSpPr>
        <p:spPr>
          <a:xfrm>
            <a:off x="6659882" y="2331720"/>
            <a:ext cx="4800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Noise → Modality Fallback (Task 3)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F12CF76-6798-8EEF-A3D1-36FCA0D4F0CA}"/>
              </a:ext>
            </a:extLst>
          </p:cNvPr>
          <p:cNvSpPr/>
          <p:nvPr/>
        </p:nvSpPr>
        <p:spPr>
          <a:xfrm>
            <a:off x="6659882" y="320040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C7C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street noise drops speech-recognition confidence, the app doesn't guess: it surfaces “Too noisy to hear you — tap to type,” switching to a text chat interface.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2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336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7E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independent, expert-based evaluation of the prototype against Nielsen's ten heuristics, specialised for multimodal interaction.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Evaluator &amp; Device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evaluators, testing end-to-end on Android and iOS devices, plus a demo video.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5196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48056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Heuristics Applied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48056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Nielsen's ten usability heuristics (H1–H10), specialised for multimodal interaction: grounding of referents, temporal coordination, repair, modality discoverability &amp; fallback.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8275320" y="19659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A6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Scale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7532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0–4 Nielsen scale: 0 Not a problem • 1 Cosmetic • 2 Minor • 3 Major • 4 Catastrophe.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tasks were exercised end-to-end where physically possible. Task 2 (Photo Game) was evaluated partially — its GPS/on-site success path was confirmed via teammates who tested on location in Milan.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516636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0F4FA"/>
          </a:solidFill>
          <a:ln w="12700">
            <a:solidFill>
              <a:srgbClr val="D7E2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685800" y="5166360"/>
            <a:ext cx="10698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patterns referenced: P1 Deictic Frame + Speak · P2 Region Selection + Conversation · P3 Vision Proposes → Conversation Confirms · P5 Temporal Binding Window · P6 Persistent Referent Tokens · P7 Repair-first Prompts.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Findings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findings across onboarding and the four core tasks, ranked by severity.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1155680" cy="292608"/>
          </a:xfrm>
          <a:prstGeom prst="rect">
            <a:avLst/>
          </a:prstGeom>
          <a:solidFill>
            <a:srgbClr val="3336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0" y="20116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378440" y="2011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48640" y="2304288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88720" y="2304288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Sciura voice output fails on Android (spec–prototype mismatch)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304288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H4, H2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742280" y="230934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742280" y="23093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92324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48640" y="2592324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88720" y="2592324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SLAM scanning feedback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0" y="2592324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H1, H9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742280" y="2597376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742280" y="259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80360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48640" y="2880360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88720" y="2880360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anchoring confirmation, no re-anchor option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69680" y="2880360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H1, H3, H5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742280" y="288541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0742280" y="28854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168396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548640" y="316839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88720" y="3168396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does not echo recognised transcript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69680" y="3168396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H1, H5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742280" y="317344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10742280" y="3173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56432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548640" y="3456432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88720" y="3456432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cannot interrupt the avatar mid-response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9680" y="3456432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742280" y="3461484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10742280" y="34614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744468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548640" y="3744468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188720" y="3744468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Implicit-yes interpretation of follow-up questions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69680" y="3744468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H5, H9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742280" y="374952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10742280" y="3749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4032504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45"/>
          <p:cNvSpPr/>
          <p:nvPr/>
        </p:nvSpPr>
        <p:spPr>
          <a:xfrm>
            <a:off x="548640" y="4032504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C.2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188720" y="4032504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vision fallback for low-light conditions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69680" y="4032504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742280" y="4037556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10742280" y="40375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320540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51"/>
          <p:cNvSpPr/>
          <p:nvPr/>
        </p:nvSpPr>
        <p:spPr>
          <a:xfrm>
            <a:off x="548640" y="4320540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188720" y="4320540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permissions not framed in-app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869680" y="4320540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H10, H5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0742280" y="432559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7" name="Text 55"/>
          <p:cNvSpPr/>
          <p:nvPr/>
        </p:nvSpPr>
        <p:spPr>
          <a:xfrm>
            <a:off x="10742280" y="4325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4608576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9" name="Text 57"/>
          <p:cNvSpPr/>
          <p:nvPr/>
        </p:nvSpPr>
        <p:spPr>
          <a:xfrm>
            <a:off x="548640" y="460857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188720" y="4608576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me there” silently exits to native maps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869680" y="4608576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H1, H3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0742280" y="461362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3" name="Text 61"/>
          <p:cNvSpPr/>
          <p:nvPr/>
        </p:nvSpPr>
        <p:spPr>
          <a:xfrm>
            <a:off x="10742280" y="46136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4896612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5" name="Text 63"/>
          <p:cNvSpPr/>
          <p:nvPr/>
        </p:nvSpPr>
        <p:spPr>
          <a:xfrm>
            <a:off x="548640" y="4896612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188720" y="4896612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permission requested before user understands AR flow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8869680" y="4896612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H4, H10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0742280" y="4901664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9" name="Text 67"/>
          <p:cNvSpPr/>
          <p:nvPr/>
        </p:nvSpPr>
        <p:spPr>
          <a:xfrm>
            <a:off x="10742280" y="4901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184648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1" name="Text 69"/>
          <p:cNvSpPr/>
          <p:nvPr/>
        </p:nvSpPr>
        <p:spPr>
          <a:xfrm>
            <a:off x="548640" y="5184648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1188720" y="5184648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transcript echo of user's spoken input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8869680" y="5184648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H1, H5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742280" y="518970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5" name="Text 73"/>
          <p:cNvSpPr/>
          <p:nvPr/>
        </p:nvSpPr>
        <p:spPr>
          <a:xfrm>
            <a:off x="10742280" y="51897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457200" y="5472684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7" name="Text 75"/>
          <p:cNvSpPr/>
          <p:nvPr/>
        </p:nvSpPr>
        <p:spPr>
          <a:xfrm>
            <a:off x="548640" y="5472684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C.1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188720" y="5472684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system message in English interface, persistent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869680" y="5472684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H2, H4, H8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0742280" y="5477736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1" name="Text 79"/>
          <p:cNvSpPr/>
          <p:nvPr/>
        </p:nvSpPr>
        <p:spPr>
          <a:xfrm>
            <a:off x="10742280" y="5477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57200" y="5760720"/>
            <a:ext cx="11155680" cy="288036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81"/>
          <p:cNvSpPr/>
          <p:nvPr/>
        </p:nvSpPr>
        <p:spPr>
          <a:xfrm>
            <a:off x="548640" y="5760720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1188720" y="5760720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slider angles diverge for older eras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869680" y="5760720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0742280" y="576577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7" name="Text 85"/>
          <p:cNvSpPr/>
          <p:nvPr/>
        </p:nvSpPr>
        <p:spPr>
          <a:xfrm>
            <a:off x="10742280" y="57657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57200" y="6048756"/>
            <a:ext cx="11155680" cy="288036"/>
          </a:xfrm>
          <a:prstGeom prst="rect">
            <a:avLst/>
          </a:prstGeom>
          <a:solidFill>
            <a:srgbClr val="F5F7FA"/>
          </a:solidFill>
          <a:ln w="6350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9" name="Text 87"/>
          <p:cNvSpPr/>
          <p:nvPr/>
        </p:nvSpPr>
        <p:spPr>
          <a:xfrm>
            <a:off x="548640" y="6048756"/>
            <a:ext cx="5486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C.3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188720" y="6048756"/>
            <a:ext cx="758952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transition feedback gap in AR mount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8869680" y="6048756"/>
            <a:ext cx="1463040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0742280" y="605380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3" name="Text 91"/>
          <p:cNvSpPr/>
          <p:nvPr/>
        </p:nvSpPr>
        <p:spPr>
          <a:xfrm>
            <a:off x="10742280" y="6053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0" fill="hold">
                      <p:stCondLst>
                        <p:cond delay="0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4" fill="hold">
                      <p:stCondLst>
                        <p:cond delay="0"/>
                      </p:stCondLst>
                      <p:childTnLst>
                        <p:par>
                          <p:cTn id="485" fill="hold">
                            <p:stCondLst>
                              <p:cond delay="0"/>
                            </p:stCondLst>
                            <p:childTnLst>
                              <p:par>
                                <p:cTn id="48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6" fill="hold">
                      <p:stCondLst>
                        <p:cond delay="0"/>
                      </p:stCondLst>
                      <p:childTnLst>
                        <p:par>
                          <p:cTn id="497" fill="hold">
                            <p:stCondLst>
                              <p:cond delay="0"/>
                            </p:stCondLst>
                            <p:childTnLst>
                              <p:par>
                                <p:cTn id="49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0" fill="hold">
                      <p:stCondLst>
                        <p:cond delay="0"/>
                      </p:stCondLst>
                      <p:childTnLst>
                        <p:par>
                          <p:cTn id="521" fill="hold">
                            <p:stCondLst>
                              <p:cond delay="0"/>
                            </p:stCondLst>
                            <p:childTnLst>
                              <p:par>
                                <p:cTn id="52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2" fill="hold">
                      <p:stCondLst>
                        <p:cond delay="0"/>
                      </p:stCondLst>
                      <p:childTnLst>
                        <p:par>
                          <p:cTn id="533" fill="hold">
                            <p:stCondLst>
                              <p:cond delay="0"/>
                            </p:stCondLst>
                            <p:childTnLst>
                              <p:par>
                                <p:cTn id="53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4" fill="hold">
                      <p:stCondLst>
                        <p:cond delay="0"/>
                      </p:stCondLst>
                      <p:childTnLst>
                        <p:par>
                          <p:cTn id="545" fill="hold">
                            <p:stCondLst>
                              <p:cond delay="0"/>
                            </p:stCondLst>
                            <p:childTnLst>
                              <p:par>
                                <p:cTn id="546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0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0" presetClass="entr" presetSubtype="0" fill="hold" grpId="0" nodeType="afterEffect">
                                  <p:stCondLst>
                                    <p:cond delay="25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Evaluation Confirmed as Strong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" cy="201168"/>
          </a:xfrm>
          <a:prstGeom prst="ellipse">
            <a:avLst/>
          </a:prstGeom>
          <a:solidFill>
            <a:srgbClr val="5B82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60120" y="16907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Coherent visual identity across all sections: blue accents, consistent buttons, stable Map → POI → AR/Game navigation.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01168" cy="201168"/>
          </a:xfrm>
          <a:prstGeom prst="ellipse">
            <a:avLst/>
          </a:prstGeom>
          <a:solidFill>
            <a:srgbClr val="5B82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960120" y="23765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has a clean, exemplary text fallback in Task 3 — modality fallback done right.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201168" cy="201168"/>
          </a:xfrm>
          <a:prstGeom prst="ellipse">
            <a:avLst/>
          </a:prstGeom>
          <a:solidFill>
            <a:srgbClr val="5B82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960120" y="30623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recognition is tolerant to phrasing variants (“bring the water back” / “make the water comeback”).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201168" cy="201168"/>
          </a:xfrm>
          <a:prstGeom prst="ellipse">
            <a:avLst/>
          </a:prstGeom>
          <a:solidFill>
            <a:srgbClr val="5B82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960120" y="37481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In-character network-loss recovery in Task 4: the Sciura stays in persona while asking the user to repeat.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201168" cy="201168"/>
          </a:xfrm>
          <a:prstGeom prst="ellipse">
            <a:avLst/>
          </a:prstGeom>
          <a:solidFill>
            <a:srgbClr val="5B82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960120" y="44339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Progressive, well-timed permission requests follow web best practice.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303520"/>
            <a:ext cx="201168" cy="201168"/>
          </a:xfrm>
          <a:prstGeom prst="ellipse">
            <a:avLst/>
          </a:prstGeom>
          <a:solidFill>
            <a:srgbClr val="5B826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960120" y="5119776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33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end-to-end conversational latency (~3s), sustaining a natural rhythm even without audio output.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336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D7E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concrete changes the team committed to after reviewing the heuristic evaluation, each mapped back to its finding and owner.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3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— Round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addressing Findings 1.2, 2.3, 2.4/3.2, and 3.1.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212080" y="216712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212080" y="2167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1.2 — Sev 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048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 before leaving the 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“Take me there” now shows an explicit in-app notice before handing off to the native Maps app, so the context switch is never silent.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10835640" y="216712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835640" y="2167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2.3 — Sev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4048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Re-anchor without leaving AR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now reposition the 3D canal model directly in AR, without exiting and re-entering the camera view.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212080" y="454456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212080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526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2.4 / 3.2 — Sev 3 /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7823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Echo what the system heard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303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voice trigger and the Sciura dialogue now show a written/visual echo of the recognised speech before acting on it.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43434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0835640" y="454456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0835640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4526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3.1 — Sev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47823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Sciura voice on Android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9360" y="5303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traced to an Android permissions/autoplay issue in the audio pipeline; being resolved with the course staff (Valoriani).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24" grpId="0"/>
      <p:bldP spid="25" grpId="0"/>
      <p:bldP spid="26" grpId="0"/>
      <p:bldP spid="29" grpId="0"/>
      <p:bldP spid="30" grpId="0"/>
      <p:bldP spid="31" grpId="0"/>
      <p:bldP spid="32" grpId="0"/>
      <p:bldP spid="33" grpId="0"/>
      <p:bldP spid="34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Improvements — Round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addressing Findings 3.3, 3.4, C.1, and C.2.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212080" y="216712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212080" y="2167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3.3 — Sev 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048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the Sciura interruptible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new user input during a response now cuts the avatar's current message and is processed immediately, instead of waiting for it to finish.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9659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10835640" y="216712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10835640" y="2167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3.4 — Sev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09360" y="240487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the implicit-yes pattern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9260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rewritten so the Sciura no longer assumes “yes” by default — she now respects an explicit “no” / topic-change request.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434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5212080" y="454456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212080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" y="4526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C.1 — Sev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" y="47823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Localise &amp; dismiss the GPS banner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5303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GPS-disabled warning is no longer hard-coded in Italian and no longer persists forever — it now follows the interface language and can be dismissed.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43434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10835640" y="4544568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10835640" y="4544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4526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C.2 — Sev 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478231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&amp; report low-light SLAM failure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09360" y="530352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SLAM cannot anchor the model in poor lighting, the system now detects the failure and notifies the user with concrete guidance.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24" grpId="0"/>
      <p:bldP spid="25" grpId="0"/>
      <p:bldP spid="26" grpId="0"/>
      <p:bldP spid="29" grpId="0"/>
      <p:bldP spid="30" grpId="0"/>
      <p:bldP spid="31" grpId="0"/>
      <p:bldP spid="32" grpId="0"/>
      <p:bldP spid="33" grpId="0"/>
      <p:bldP spid="34" grpId="0"/>
      <p:bldP spid="3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6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A530E-3B9B-C51D-9040-12B439419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A4ECCC-41A4-0EC8-BFDB-6E2062714866}"/>
              </a:ext>
            </a:extLst>
          </p:cNvPr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33363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B81250A-1812-032B-D797-63B6365EB4AE}"/>
              </a:ext>
            </a:extLst>
          </p:cNvPr>
          <p:cNvSpPr/>
          <p:nvPr/>
        </p:nvSpPr>
        <p:spPr>
          <a:xfrm>
            <a:off x="457200" y="5486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D7E2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141A18-E772-EC17-B54E-EED37DEB7EFB}"/>
              </a:ext>
            </a:extLst>
          </p:cNvPr>
          <p:cNvSpPr/>
          <p:nvPr/>
        </p:nvSpPr>
        <p:spPr>
          <a:xfrm>
            <a:off x="54864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800"/>
              </a:lnSpc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4400"/>
          </a:p>
          <a:p>
            <a:pPr>
              <a:lnSpc>
                <a:spcPts val="4800"/>
              </a:lnSpc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4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10BCADD-88CC-757B-DC78-8EA15BD1922E}"/>
              </a:ext>
            </a:extLst>
          </p:cNvPr>
          <p:cNvSpPr/>
          <p:nvPr/>
        </p:nvSpPr>
        <p:spPr>
          <a:xfrm>
            <a:off x="548640" y="4480560"/>
            <a:ext cx="8686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with real users, carried after the heuristic evaluation round.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DDC0AE-D508-A86F-1DFF-1DC366EE7B86}"/>
              </a:ext>
            </a:extLst>
          </p:cNvPr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59807726"/>
      </p:ext>
    </p:extLst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test was conducted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77240" y="185623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Participants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per team member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3547872" y="185623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Tasks per session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547872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defined success criteria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318504" y="185623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18504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Measurement tools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18504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Log + Questionnaire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51976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7F5F0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9089136" y="1856232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3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089136" y="2606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Metrics collected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089136" y="29260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SEQ, SUS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PROTOCOL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777240" y="44622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&amp; consent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172968" y="47091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410712" y="43891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3547872" y="44622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547872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execution (Think-Aloud)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0" y="47091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1344" y="43891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318504" y="44622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18504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Post-task questionnaire (SEQ)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714232" y="4709160"/>
            <a:ext cx="219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951976" y="4389120"/>
            <a:ext cx="2514600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089136" y="44622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089136" y="48463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questionnaire (SUS)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38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691640"/>
          <a:ext cx="338328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41605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familiarity &amp; experience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023360" y="1691640"/>
          <a:ext cx="36576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8338045" y="1417320"/>
            <a:ext cx="10010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graphicFrame>
        <p:nvGraphicFramePr>
          <p:cNvPr id="9" name="Chart 2"/>
          <p:cNvGraphicFramePr/>
          <p:nvPr>
            <p:extLst>
              <p:ext uri="{D42A27DB-BD31-4B8C-83A1-F6EECF244321}">
                <p14:modId xmlns:p14="http://schemas.microsoft.com/office/powerpoint/2010/main" val="2251018244"/>
              </p:ext>
            </p:extLst>
          </p:nvPr>
        </p:nvGraphicFramePr>
        <p:xfrm>
          <a:off x="7955280" y="1691640"/>
          <a:ext cx="1691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3"/>
          <p:cNvGraphicFramePr/>
          <p:nvPr>
            <p:extLst>
              <p:ext uri="{D42A27DB-BD31-4B8C-83A1-F6EECF244321}">
                <p14:modId xmlns:p14="http://schemas.microsoft.com/office/powerpoint/2010/main" val="1282108542"/>
              </p:ext>
            </p:extLst>
          </p:nvPr>
        </p:nvGraphicFramePr>
        <p:xfrm>
          <a:off x="9784080" y="1691640"/>
          <a:ext cx="1691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5"/>
          <p:cNvSpPr/>
          <p:nvPr/>
        </p:nvSpPr>
        <p:spPr>
          <a:xfrm>
            <a:off x="502920" y="4251960"/>
            <a:ext cx="11201400" cy="1965960"/>
          </a:xfrm>
          <a:prstGeom prst="roundRect">
            <a:avLst>
              <a:gd name="adj" fmla="val 3721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6"/>
          <p:cNvSpPr/>
          <p:nvPr/>
        </p:nvSpPr>
        <p:spPr>
          <a:xfrm>
            <a:off x="777240" y="4389120"/>
            <a:ext cx="26735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</a:t>
            </a:r>
            <a:endParaRPr lang="en-US" sz="1150" dirty="0"/>
          </a:p>
        </p:txBody>
      </p:sp>
      <p:graphicFrame>
        <p:nvGraphicFramePr>
          <p:cNvPr id="13" name="Chart 4"/>
          <p:cNvGraphicFramePr/>
          <p:nvPr>
            <p:extLst>
              <p:ext uri="{D42A27DB-BD31-4B8C-83A1-F6EECF244321}">
                <p14:modId xmlns:p14="http://schemas.microsoft.com/office/powerpoint/2010/main" val="1811442263"/>
              </p:ext>
            </p:extLst>
          </p:nvPr>
        </p:nvGraphicFramePr>
        <p:xfrm>
          <a:off x="640080" y="4709160"/>
          <a:ext cx="35204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5"/>
          <p:cNvGraphicFramePr/>
          <p:nvPr/>
        </p:nvGraphicFramePr>
        <p:xfrm>
          <a:off x="4343400" y="4709160"/>
          <a:ext cx="35204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5" name="Chart 6"/>
          <p:cNvGraphicFramePr/>
          <p:nvPr/>
        </p:nvGraphicFramePr>
        <p:xfrm>
          <a:off x="8046720" y="4709160"/>
          <a:ext cx="352044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17" name="Text 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7FF9C19A-565E-D9D9-7B5B-5FF78D7AF01D}"/>
              </a:ext>
            </a:extLst>
          </p:cNvPr>
          <p:cNvSpPr/>
          <p:nvPr/>
        </p:nvSpPr>
        <p:spPr>
          <a:xfrm>
            <a:off x="4436745" y="4389120"/>
            <a:ext cx="95631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usage</a:t>
            </a:r>
            <a:endParaRPr lang="en-US" sz="115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E54FBAB-6BF4-A689-1DB0-45751E042031}"/>
              </a:ext>
            </a:extLst>
          </p:cNvPr>
          <p:cNvSpPr/>
          <p:nvPr/>
        </p:nvSpPr>
        <p:spPr>
          <a:xfrm>
            <a:off x="8046720" y="43891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usage</a:t>
            </a:r>
            <a:endParaRPr lang="en-US" sz="115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DDD6809E-DD8E-4E49-0366-27BA6D424E9B}"/>
              </a:ext>
            </a:extLst>
          </p:cNvPr>
          <p:cNvSpPr/>
          <p:nvPr/>
        </p:nvSpPr>
        <p:spPr>
          <a:xfrm>
            <a:off x="9993211" y="14173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3262E"/>
                </a:solidFill>
                <a:latin typeface="Calibri" pitchFamily="34" charset="0"/>
                <a:cs typeface="Calibri" pitchFamily="34" charset="-120"/>
              </a:rPr>
              <a:t>AR familiarity</a:t>
            </a:r>
            <a:endParaRPr lang="en-US" sz="12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by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completion time (s)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37360"/>
          <a:ext cx="5394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</a:t>
            </a:r>
            <a:r>
              <a:rPr lang="en-US" sz="1200" b="1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200" dirty="0"/>
          </a:p>
        </p:txBody>
      </p:sp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150970574"/>
              </p:ext>
            </p:extLst>
          </p:nvPr>
        </p:nvGraphicFramePr>
        <p:xfrm>
          <a:off x="6126480" y="1737360"/>
          <a:ext cx="53949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3434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731520" y="4480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/ average interactions</a:t>
            </a:r>
            <a:endParaRPr lang="en-US" sz="1150" dirty="0"/>
          </a:p>
        </p:txBody>
      </p:sp>
      <p:graphicFrame>
        <p:nvGraphicFramePr>
          <p:cNvPr id="10" name="Chart 2"/>
          <p:cNvGraphicFramePr/>
          <p:nvPr>
            <p:extLst>
              <p:ext uri="{D42A27DB-BD31-4B8C-83A1-F6EECF244321}">
                <p14:modId xmlns:p14="http://schemas.microsoft.com/office/powerpoint/2010/main" val="4008022836"/>
              </p:ext>
            </p:extLst>
          </p:nvPr>
        </p:nvGraphicFramePr>
        <p:xfrm>
          <a:off x="640080" y="4754880"/>
          <a:ext cx="52120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6"/>
          <p:cNvSpPr/>
          <p:nvPr/>
        </p:nvSpPr>
        <p:spPr>
          <a:xfrm>
            <a:off x="6172200" y="4343400"/>
            <a:ext cx="5486400" cy="1783080"/>
          </a:xfrm>
          <a:prstGeom prst="roundRect">
            <a:avLst>
              <a:gd name="adj" fmla="val 4103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7"/>
          <p:cNvSpPr/>
          <p:nvPr/>
        </p:nvSpPr>
        <p:spPr>
          <a:xfrm>
            <a:off x="6400800" y="44805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/ average failed attempts</a:t>
            </a:r>
            <a:endParaRPr lang="en-US" sz="1150" dirty="0"/>
          </a:p>
        </p:txBody>
      </p:sp>
      <p:graphicFrame>
        <p:nvGraphicFramePr>
          <p:cNvPr id="13" name="Chart 3"/>
          <p:cNvGraphicFramePr/>
          <p:nvPr>
            <p:extLst>
              <p:ext uri="{D42A27DB-BD31-4B8C-83A1-F6EECF244321}">
                <p14:modId xmlns:p14="http://schemas.microsoft.com/office/powerpoint/2010/main" val="3610447691"/>
              </p:ext>
            </p:extLst>
          </p:nvPr>
        </p:nvGraphicFramePr>
        <p:xfrm>
          <a:off x="6309360" y="4754880"/>
          <a:ext cx="52120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 — Perceived ease by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Ease Question, scale 1 (very difficult) – 7 (very easy), collected after each task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822960" y="169164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8001000" y="169164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822960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APPRECIATED TASK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2103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22960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  ·  SD 0.87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score and lowest variability among users.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001000" y="379476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8229600" y="3931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CRITICAL TASK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22960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229600" y="47091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5.44 / 7  ·  SD 1.94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0" y="5120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 and widest spread (2–7).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 RESULTS —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 — Full matrix by participant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cell: SEQ score (1-7) given by the participant right after the task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863840" cy="42976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Participant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Task 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6.00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6.75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5.50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4.25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7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5.00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5.75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6.50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5.25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P9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7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5.75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Task average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5.44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5.56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5.56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6.00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5.64</a:t>
                      </a:r>
                      <a:endParaRPr lang="en-US" sz="105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i="1" dirty="0">
                          <a:solidFill>
                            <a:srgbClr val="13262E"/>
                          </a:solidFill>
                        </a:rPr>
                        <a:t>Task SD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B7480"/>
                          </a:solidFill>
                        </a:rPr>
                        <a:t>1.94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B7480"/>
                          </a:solidFill>
                        </a:rPr>
                        <a:t>1.13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B7480"/>
                          </a:solidFill>
                        </a:rPr>
                        <a:t>1.42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B7480"/>
                          </a:solidFill>
                        </a:rPr>
                        <a:t>0.87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i="1" dirty="0">
                          <a:solidFill>
                            <a:srgbClr val="5B748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732520" y="1691640"/>
            <a:ext cx="2834640" cy="4434840"/>
          </a:xfrm>
          <a:prstGeom prst="roundRect">
            <a:avLst>
              <a:gd name="adj" fmla="val 2581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4"/>
          <p:cNvSpPr/>
          <p:nvPr/>
        </p:nvSpPr>
        <p:spPr>
          <a:xfrm>
            <a:off x="8961120" y="1847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961120" y="219456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4C7C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9308592" y="21579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· Difficult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961120" y="2578608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BE7C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9308592" y="25420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· Neutral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961120" y="296265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D7ECE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9308592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6-7 · Easy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961120" y="3438144"/>
            <a:ext cx="2377440" cy="0"/>
          </a:xfrm>
          <a:prstGeom prst="line">
            <a:avLst/>
          </a:prstGeom>
          <a:noFill/>
          <a:ln w="12700">
            <a:solidFill>
              <a:srgbClr val="2E5C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8961120" y="35753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961120" y="3895344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concentrates the lowest scores in a subgroup (P3, P4), while the majority find it easy: not a universal problem, but a localized one.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961120" y="4855464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and P7 give the highest, most consistent scores across all tasks (personal average of 6.75 and 6.50).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7" grpId="0"/>
      <p:bldP spid="6" grpId="0"/>
      <p:bldP spid="5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Score — System Usability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00400" cy="4480560"/>
          </a:xfrm>
          <a:prstGeom prst="roundRect">
            <a:avLst>
              <a:gd name="adj" fmla="val 2857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AVERAGE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72.78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468880" cy="0"/>
          </a:xfrm>
          <a:prstGeom prst="line">
            <a:avLst/>
          </a:prstGeom>
          <a:noFill/>
          <a:ln w="19050">
            <a:solidFill>
              <a:srgbClr val="2E5C6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22960" y="3982213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 above </a:t>
            </a:r>
            <a:r>
              <a:rPr lang="en-US" sz="1200" b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(68)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32.5 – 97.5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Median: 77.5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Dev.: 20.1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6908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by participant (anonymized)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931920" y="1783080"/>
          <a:ext cx="7680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Shape 11"/>
          <p:cNvSpPr/>
          <p:nvPr/>
        </p:nvSpPr>
        <p:spPr>
          <a:xfrm>
            <a:off x="3931920" y="516636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4160520" y="528523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out of 9 participants </a:t>
            </a:r>
            <a:r>
              <a:rPr lang="en-US" sz="1100" i="1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 </a:t>
            </a:r>
            <a:r>
              <a:rPr lang="en-US" sz="1100" i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(68). Two negative outliers linked to flow/navigation difficulties in Task 1 and the lack of search.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USABILITY — DETAIL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 — Statistical distribution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by band (adjective scale)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37360"/>
          <a:ext cx="6309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7086600" y="1417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86600" y="1737360"/>
          <a:ext cx="4480560" cy="28803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Average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72.78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Median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77.5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Std. dev.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20.13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Variance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405.38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Minimum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32.5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Maximum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97.5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Q1 (25th perc.)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75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Q3 (75th perc.)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3262E"/>
                          </a:solidFill>
                        </a:rPr>
                        <a:t>IQR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262E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" y="4709160"/>
            <a:ext cx="11201400" cy="1463040"/>
          </a:xfrm>
          <a:prstGeom prst="roundRect">
            <a:avLst>
              <a:gd name="adj" fmla="val 5000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3152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BY PARTICIPANT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31520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31520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77.5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731520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Good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1938528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938528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938528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Great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3145536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145536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145536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Great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4352544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4352544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47.5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352544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D/F · Poor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559552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559552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5559552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Great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6766560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6766560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766560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Good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7973568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7973568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97.5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7973568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 · Excellent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9180576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180576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77.5</a:t>
            </a:r>
            <a:endParaRPr lang="en-US" sz="1800" dirty="0"/>
          </a:p>
        </p:txBody>
      </p:sp>
      <p:sp>
        <p:nvSpPr>
          <p:cNvPr id="33" name="Text 29"/>
          <p:cNvSpPr/>
          <p:nvPr/>
        </p:nvSpPr>
        <p:spPr>
          <a:xfrm>
            <a:off x="9180576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D8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Good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10387584" y="5138928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10387584" y="5394960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10387584" y="5760720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8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D/F · Poor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37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9" grpId="0"/>
      <p:bldP spid="8" grpId="0"/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themes from Think-Aloud and interviews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0B3B54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1143000" y="230428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 with the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263347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cited feature as participants' favorite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34747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143000" y="335584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experience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685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CE3"/>
                </a:solidFill>
                <a:latin typeface="Calibri" pitchFamily="34" charset="0"/>
                <a:cs typeface="Calibri" pitchFamily="34" charset="-120"/>
              </a:rPr>
              <a:t>The canal reconstruction is stimulating and engaging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452628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43000" y="44074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ease of 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736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SUS 72.8, above </a:t>
            </a:r>
            <a:r>
              <a:rPr lang="en-US" sz="140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7F5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53796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8440" y="245059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842760" y="2331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a search bar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42760" y="266090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search directly for a point of interest by name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68440" y="33832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42760" y="326440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very robust voice recognition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42760" y="35935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repetition; latency in the guide's responses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68440" y="431596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842760" y="41970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navigation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42760" y="4526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return to home to launch AR from the POI detail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53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040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post-testing fixes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25780" y="1700784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Shape 4"/>
          <p:cNvSpPr/>
          <p:nvPr/>
        </p:nvSpPr>
        <p:spPr>
          <a:xfrm>
            <a:off x="777240" y="18928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4572000" y="18928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4572000" y="18928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23134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Add POI search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0" y="289864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text search bar, not just map navigation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8366760" y="18928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8366760" y="18928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2304288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Improve voice recognition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2889504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</a:rPr>
              <a:t>Increase microphone tolerance/feedback with an active-listening indicator</a:t>
            </a:r>
          </a:p>
        </p:txBody>
      </p:sp>
      <p:sp>
        <p:nvSpPr>
          <p:cNvPr id="20" name="Shape 18"/>
          <p:cNvSpPr/>
          <p:nvPr/>
        </p:nvSpPr>
        <p:spPr>
          <a:xfrm>
            <a:off x="2331720" y="40919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2560320" y="42931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2560320" y="42931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60320" y="47137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Reduce redundant navigation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560320" y="529894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launching AR directly from the POI detail card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48400" y="40919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7F5F0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477000" y="429310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477000" y="429310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77000" y="4713732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Expand points of interest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477000" y="529894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adding more POIs beyond </a:t>
            </a:r>
            <a:r>
              <a:rPr lang="en-US" sz="140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Testing Report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366760" y="2295144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2E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Clarify the Task 1 flow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66760" y="28803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explicit contextual guidance instead of relying on self-discovery</a:t>
            </a:r>
            <a:endParaRPr lang="en-US" sz="1400" dirty="0"/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48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B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B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usable app, with clear room for improvement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SUS score, above threshold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43484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434840" y="3611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 successfully (fully or with assistance)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46720" y="3611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friction point to fix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074920"/>
            <a:ext cx="100584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DADDD4F1-C2A5-8CAE-1796-772E12006BFE}"/>
              </a:ext>
            </a:extLst>
          </p:cNvPr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6C606B-9C25-1C71-DDA2-59DABC9FB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1">
            <a:extLst>
              <a:ext uri="{FF2B5EF4-FFF2-40B4-BE49-F238E27FC236}">
                <a16:creationId xmlns:a16="http://schemas.microsoft.com/office/drawing/2014/main" id="{2A297288-E169-9BE4-9420-555FFB8D114B}"/>
              </a:ext>
            </a:extLst>
          </p:cNvPr>
          <p:cNvSpPr/>
          <p:nvPr/>
        </p:nvSpPr>
        <p:spPr>
          <a:xfrm>
            <a:off x="830403" y="808613"/>
            <a:ext cx="6059495" cy="52407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0" b="1">
                <a:solidFill>
                  <a:srgbClr val="13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15000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C063DAC-E845-6E41-A1D0-CF175278F9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203" b="30943"/>
          <a:stretch>
            <a:fillRect/>
          </a:stretch>
        </p:blipFill>
        <p:spPr>
          <a:xfrm>
            <a:off x="5855080" y="79653"/>
            <a:ext cx="6704453" cy="6698693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54BE8286-6D05-924A-D8B6-5D36353F60A5}"/>
              </a:ext>
            </a:extLst>
          </p:cNvPr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3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Persephonē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760875260"/>
      </p:ext>
    </p:extLst>
  </p:cSld>
  <p:clrMapOvr>
    <a:masterClrMapping/>
  </p:clrMapOvr>
  <p:transition xmlns:p14="http://schemas.microsoft.com/office/powerpoint/2010/main" spd="med" p14:dur="6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3" grpId="0"/>
      <p:bldP spid="2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2396</Words>
  <Application>Microsoft Office PowerPoint</Application>
  <PresentationFormat>Widescreen</PresentationFormat>
  <Paragraphs>511</Paragraphs>
  <Slides>28</Slides>
  <Notes>17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Office Theme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Marco Abbadessa</cp:lastModifiedBy>
  <cp:revision>6</cp:revision>
  <dcterms:created xsi:type="dcterms:W3CDTF">2026-07-11T08:07:15Z</dcterms:created>
  <dcterms:modified xsi:type="dcterms:W3CDTF">2026-07-12T09:42:45Z</dcterms:modified>
</cp:coreProperties>
</file>